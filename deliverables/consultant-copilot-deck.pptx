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2194560"/>
            <a:ext cx="5669280" cy="5669280"/>
          </a:xfrm>
          <a:prstGeom prst="ellipse">
            <a:avLst/>
          </a:prstGeom>
          <a:solidFill>
            <a:srgbClr val="2E3A7F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389120"/>
            <a:ext cx="3108960" cy="3108960"/>
          </a:xfrm>
          <a:prstGeom prst="ellipse">
            <a:avLst/>
          </a:prstGeom>
          <a:solidFill>
            <a:srgbClr val="2E3A7F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2331720"/>
            <a:ext cx="9875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Consultant Copilot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24612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Consulting Research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8404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one-week ML/LLM engineering proof of concept  —  Innovation Team application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&amp; The Vision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5212080" cy="4480560"/>
          </a:xfrm>
          <a:prstGeom prst="roundRect">
            <a:avLst>
              <a:gd name="adj" fmla="val 2449"/>
            </a:avLst>
          </a:prstGeom>
          <a:solidFill>
            <a:srgbClr val="EEF3FC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1965960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965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19202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560320"/>
            <a:ext cx="44805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Early-stage consulting diagnosis is exploratory. A consultant needs several plausible hypotheses, an honest read on what evidence actually supports, and a clear list of unknowns — not one confident-sounding paragraph presented as fact.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355080" y="1600200"/>
            <a:ext cx="5212080" cy="4480560"/>
          </a:xfrm>
          <a:prstGeom prst="roundRect">
            <a:avLst>
              <a:gd name="adj" fmla="val 2449"/>
            </a:avLst>
          </a:prstGeom>
          <a:solidFill>
            <a:srgbClr val="EEF3FC"/>
          </a:solidFill>
          <a:ln/>
        </p:spPr>
      </p:sp>
      <p:sp>
        <p:nvSpPr>
          <p:cNvPr id="9" name="Shape 7"/>
          <p:cNvSpPr/>
          <p:nvPr/>
        </p:nvSpPr>
        <p:spPr>
          <a:xfrm>
            <a:off x="6720840" y="1965960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720840" y="1965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315200" y="19202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Long-Term Vision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6720840" y="2560320"/>
            <a:ext cx="44805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client documents and a business question, retrieve the relevant evidence, and help a consultant develop hypotheses, weigh supporting vs. contradicting evidence, and identify next analytical steps — with citations back to the source.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Consultant Copilot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1115568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Architecture: Question to Cited Analysis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691640"/>
            <a:ext cx="10515600" cy="850392"/>
          </a:xfrm>
          <a:prstGeom prst="roundRect">
            <a:avLst>
              <a:gd name="adj" fmla="val 10753"/>
            </a:avLst>
          </a:prstGeom>
          <a:solidFill>
            <a:srgbClr val="EEF3FC"/>
          </a:solidFill>
          <a:ln/>
        </p:spPr>
      </p:sp>
      <p:sp>
        <p:nvSpPr>
          <p:cNvPr id="4" name="Shape 2"/>
          <p:cNvSpPr/>
          <p:nvPr/>
        </p:nvSpPr>
        <p:spPr>
          <a:xfrm>
            <a:off x="1097280" y="1906524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97280" y="19065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737360" y="176479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Browser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029200" y="1764792"/>
            <a:ext cx="603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+ optional uploaded documents (multipart form)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22960" y="2743200"/>
            <a:ext cx="10515600" cy="850392"/>
          </a:xfrm>
          <a:prstGeom prst="roundRect">
            <a:avLst>
              <a:gd name="adj" fmla="val 10753"/>
            </a:avLst>
          </a:prstGeom>
          <a:solidFill>
            <a:srgbClr val="EEF3FC"/>
          </a:solidFill>
          <a:ln/>
        </p:spPr>
      </p:sp>
      <p:sp>
        <p:nvSpPr>
          <p:cNvPr id="9" name="Shape 7"/>
          <p:cNvSpPr/>
          <p:nvPr/>
        </p:nvSpPr>
        <p:spPr>
          <a:xfrm>
            <a:off x="1097280" y="2958084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97280" y="29580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737360" y="281635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Route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029200" y="2816352"/>
            <a:ext cx="603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 HTTP wrapper — runs server-side only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22960" y="3794760"/>
            <a:ext cx="10515600" cy="850392"/>
          </a:xfrm>
          <a:prstGeom prst="roundRect">
            <a:avLst>
              <a:gd name="adj" fmla="val 10753"/>
            </a:avLst>
          </a:prstGeom>
          <a:solidFill>
            <a:srgbClr val="CADCFC"/>
          </a:solidFill>
          <a:ln/>
        </p:spPr>
      </p:sp>
      <p:sp>
        <p:nvSpPr>
          <p:cNvPr id="14" name="Shape 12"/>
          <p:cNvSpPr/>
          <p:nvPr/>
        </p:nvSpPr>
        <p:spPr>
          <a:xfrm>
            <a:off x="1097280" y="4009644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097280" y="40096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737360" y="386791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5029200" y="3867912"/>
            <a:ext cx="603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→ chunk → embed → retrieve → generate → verify citations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822960" y="4846320"/>
            <a:ext cx="10515600" cy="850392"/>
          </a:xfrm>
          <a:prstGeom prst="roundRect">
            <a:avLst>
              <a:gd name="adj" fmla="val 10753"/>
            </a:avLst>
          </a:prstGeom>
          <a:solidFill>
            <a:srgbClr val="EEF3FC"/>
          </a:solidFill>
          <a:ln/>
        </p:spPr>
      </p:sp>
      <p:sp>
        <p:nvSpPr>
          <p:cNvPr id="19" name="Shape 17"/>
          <p:cNvSpPr/>
          <p:nvPr/>
        </p:nvSpPr>
        <p:spPr>
          <a:xfrm>
            <a:off x="1097280" y="5061204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097280" y="50612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737360" y="491947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Structured JSON back to the UI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5029200" y="4919472"/>
            <a:ext cx="603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Hypotheses, evidence alignment, citations, gaps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822960" y="5943600"/>
            <a:ext cx="10515600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1097280" y="594360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keys (Anthropic, Voyage AI) live only on the server — the browser never sees them.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Consultant Copilot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1115568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4206240"/>
            <a:ext cx="4937760" cy="4937760"/>
          </a:xfrm>
          <a:prstGeom prst="ellipse">
            <a:avLst/>
          </a:prstGeom>
          <a:solidFill>
            <a:srgbClr val="2E3A7F">
              <a:alpha val="55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6517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5661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consultant-copilot — running locally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One Real Capability at a Time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600200"/>
            <a:ext cx="10881360" cy="749808"/>
          </a:xfrm>
          <a:prstGeom prst="roundRect">
            <a:avLst>
              <a:gd name="adj" fmla="val 10976"/>
            </a:avLst>
          </a:prstGeom>
          <a:solidFill>
            <a:srgbClr val="EEF3FC"/>
          </a:solidFill>
          <a:ln/>
        </p:spPr>
      </p:sp>
      <p:sp>
        <p:nvSpPr>
          <p:cNvPr id="4" name="Shape 2"/>
          <p:cNvSpPr/>
          <p:nvPr/>
        </p:nvSpPr>
        <p:spPr>
          <a:xfrm>
            <a:off x="877824" y="1792224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77824" y="17922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655064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1: Structured LLM Output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5074920" y="1655064"/>
            <a:ext cx="6172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via the Anthropic SDK, JSON-Schema-constrained response — no documents yet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496312"/>
            <a:ext cx="10881360" cy="749808"/>
          </a:xfrm>
          <a:prstGeom prst="roundRect">
            <a:avLst>
              <a:gd name="adj" fmla="val 10976"/>
            </a:avLst>
          </a:prstGeom>
          <a:solidFill>
            <a:srgbClr val="EEF3FC"/>
          </a:solidFill>
          <a:ln/>
        </p:spPr>
      </p:sp>
      <p:sp>
        <p:nvSpPr>
          <p:cNvPr id="9" name="Shape 7"/>
          <p:cNvSpPr/>
          <p:nvPr/>
        </p:nvSpPr>
        <p:spPr>
          <a:xfrm>
            <a:off x="877824" y="2688336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77824" y="26883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2551176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2: Document Ingestion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5074920" y="2551176"/>
            <a:ext cx="6172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.txt/.pdf, extract text, split into overlapping chunks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3392424"/>
            <a:ext cx="10881360" cy="749808"/>
          </a:xfrm>
          <a:prstGeom prst="roundRect">
            <a:avLst>
              <a:gd name="adj" fmla="val 10976"/>
            </a:avLst>
          </a:prstGeom>
          <a:solidFill>
            <a:srgbClr val="EEF3FC"/>
          </a:solidFill>
          <a:ln/>
        </p:spPr>
      </p:sp>
      <p:sp>
        <p:nvSpPr>
          <p:cNvPr id="14" name="Shape 12"/>
          <p:cNvSpPr/>
          <p:nvPr/>
        </p:nvSpPr>
        <p:spPr>
          <a:xfrm>
            <a:off x="877824" y="3584448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77824" y="35844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417320" y="3447288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3: Semantic Retrieval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5074920" y="3447288"/>
            <a:ext cx="6172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Voyage AI embeddings + cosine similarity replace “stuff everything into the prompt”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0080" y="4288536"/>
            <a:ext cx="10881360" cy="749808"/>
          </a:xfrm>
          <a:prstGeom prst="roundRect">
            <a:avLst>
              <a:gd name="adj" fmla="val 10976"/>
            </a:avLst>
          </a:prstGeom>
          <a:solidFill>
            <a:srgbClr val="EEF3FC"/>
          </a:solidFill>
          <a:ln/>
        </p:spPr>
      </p:sp>
      <p:sp>
        <p:nvSpPr>
          <p:cNvPr id="19" name="Shape 17"/>
          <p:cNvSpPr/>
          <p:nvPr/>
        </p:nvSpPr>
        <p:spPr>
          <a:xfrm>
            <a:off x="877824" y="448056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77824" y="4480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417320" y="434340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4: Verified Citations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5074920" y="4343400"/>
            <a:ext cx="6172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quoted excerpt is checked against the real source text before it's trusted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40080" y="5184648"/>
            <a:ext cx="10881360" cy="749808"/>
          </a:xfrm>
          <a:prstGeom prst="roundRect">
            <a:avLst>
              <a:gd name="adj" fmla="val 10976"/>
            </a:avLst>
          </a:prstGeom>
          <a:solidFill>
            <a:srgbClr val="EEF3FC"/>
          </a:solidFill>
          <a:ln/>
        </p:spPr>
      </p:sp>
      <p:sp>
        <p:nvSpPr>
          <p:cNvPr id="24" name="Shape 22"/>
          <p:cNvSpPr/>
          <p:nvPr/>
        </p:nvSpPr>
        <p:spPr>
          <a:xfrm>
            <a:off x="877824" y="5376672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77824" y="53766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417320" y="5239512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5: Evaluation Harness</a:t>
            </a:r>
            <a:endParaRPr lang="en-US" sz="1450" dirty="0"/>
          </a:p>
        </p:txBody>
      </p:sp>
      <p:sp>
        <p:nvSpPr>
          <p:cNvPr id="27" name="Text 25"/>
          <p:cNvSpPr txBox="1"/>
          <p:nvPr/>
        </p:nvSpPr>
        <p:spPr>
          <a:xfrm>
            <a:off x="5074920" y="5239512"/>
            <a:ext cx="6172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recall, citation groundedness, consistency checks, and an LLM-as-judge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Consultant Copilot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1115568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Engineering Decisions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11064240" cy="932688"/>
          </a:xfrm>
          <a:prstGeom prst="roundRect">
            <a:avLst>
              <a:gd name="adj" fmla="val 7843"/>
            </a:avLst>
          </a:prstGeom>
          <a:solidFill>
            <a:srgbClr val="EEF3F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554480"/>
            <a:ext cx="27889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separate backend service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3611880" y="1554480"/>
            <a:ext cx="4572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4160520" y="1554480"/>
            <a:ext cx="32461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Next.js app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7635240" y="1554480"/>
            <a:ext cx="37490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Simplicity — one deploy target, route handlers as the backend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670048"/>
            <a:ext cx="1106424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2670048"/>
            <a:ext cx="27889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Free-form text output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611880" y="2670048"/>
            <a:ext cx="4572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160520" y="2670048"/>
            <a:ext cx="32461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JSON-Schema-constrained output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7635240" y="2670048"/>
            <a:ext cx="37490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Reliable, parseable fields instead of guessed regex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785616"/>
            <a:ext cx="11064240" cy="932688"/>
          </a:xfrm>
          <a:prstGeom prst="roundRect">
            <a:avLst>
              <a:gd name="adj" fmla="val 7843"/>
            </a:avLst>
          </a:prstGeom>
          <a:solidFill>
            <a:srgbClr val="EEF3F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77240" y="3785616"/>
            <a:ext cx="27889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external vector database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611880" y="3785616"/>
            <a:ext cx="4572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4160520" y="3785616"/>
            <a:ext cx="32461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In-memory cosine similarity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7635240" y="3785616"/>
            <a:ext cx="37490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Right-sized for a handful of documents, not premature infra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4901184"/>
            <a:ext cx="1106424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77240" y="4901184"/>
            <a:ext cx="27889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Trusting the model's citations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3611880" y="4901184"/>
            <a:ext cx="4572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4160520" y="4901184"/>
            <a:ext cx="32461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Independently verifying every quote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7635240" y="4901184"/>
            <a:ext cx="37490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Trust, but verify — a concrete anti-hallucination check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Consultant Copilot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1115568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Results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77240" y="1554480"/>
            <a:ext cx="3429000" cy="1965960"/>
          </a:xfrm>
          <a:prstGeom prst="roundRect">
            <a:avLst>
              <a:gd name="adj" fmla="val 5581"/>
            </a:avLst>
          </a:prstGeom>
          <a:solidFill>
            <a:srgbClr val="EEF3F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783080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F7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60604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Recall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97180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5/5 golden test cases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26280" y="1554480"/>
            <a:ext cx="3429000" cy="1965960"/>
          </a:xfrm>
          <a:prstGeom prst="roundRect">
            <a:avLst>
              <a:gd name="adj" fmla="val 5581"/>
            </a:avLst>
          </a:prstGeom>
          <a:solidFill>
            <a:srgbClr val="EEF3F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26280" y="1783080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F7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95%</a:t>
            </a:r>
            <a:endParaRPr lang="en-US" sz="4600" dirty="0"/>
          </a:p>
        </p:txBody>
      </p:sp>
      <p:sp>
        <p:nvSpPr>
          <p:cNvPr id="9" name="Text 7"/>
          <p:cNvSpPr txBox="1"/>
          <p:nvPr/>
        </p:nvSpPr>
        <p:spPr>
          <a:xfrm>
            <a:off x="4526280" y="260604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Groundedness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526280" y="297180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20/21 citations verified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275320" y="1554480"/>
            <a:ext cx="3429000" cy="1965960"/>
          </a:xfrm>
          <a:prstGeom prst="roundRect">
            <a:avLst>
              <a:gd name="adj" fmla="val 5581"/>
            </a:avLst>
          </a:prstGeom>
          <a:solidFill>
            <a:srgbClr val="EEF3F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75320" y="1783080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F7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5/5</a:t>
            </a:r>
            <a:endParaRPr lang="en-US" sz="4600" dirty="0"/>
          </a:p>
        </p:txBody>
      </p:sp>
      <p:sp>
        <p:nvSpPr>
          <p:cNvPr id="13" name="Text 11"/>
          <p:cNvSpPr txBox="1"/>
          <p:nvPr/>
        </p:nvSpPr>
        <p:spPr>
          <a:xfrm>
            <a:off x="8275320" y="260604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LLM-Judge Pass Rate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8275320" y="297180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appropriate hedging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77240" y="3886200"/>
            <a:ext cx="10607040" cy="1920240"/>
          </a:xfrm>
          <a:prstGeom prst="roundRect">
            <a:avLst>
              <a:gd name="adj" fmla="val 5714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143000" y="411480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eval isn't just green checkmarks — it caught a real defect.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143000" y="4617720"/>
            <a:ext cx="9875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hypothesis claimed “supported by documents” while its only citation failed independent verification and was dropped — an internal inconsistency the harness flagged automatically, without a human eyeballing the output.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Consultant Copilot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115568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Deliberately Not Built Yet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one-week proof of concept, not a production system — clear next steps: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881360" cy="914400"/>
          </a:xfrm>
          <a:prstGeom prst="roundRect">
            <a:avLst>
              <a:gd name="adj" fmla="val 9000"/>
            </a:avLst>
          </a:prstGeom>
          <a:solidFill>
            <a:srgbClr val="EEF3FC"/>
          </a:solidFill>
          <a:ln/>
        </p:spPr>
      </p:sp>
      <p:sp>
        <p:nvSpPr>
          <p:cNvPr id="5" name="Shape 3"/>
          <p:cNvSpPr/>
          <p:nvPr/>
        </p:nvSpPr>
        <p:spPr>
          <a:xfrm>
            <a:off x="896112" y="196596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96112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78308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Persistence layer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4343400" y="1783080"/>
            <a:ext cx="6903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embeddings are recomputed from scratch on every request — a real system would embed once and cache the vectors.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2788920"/>
            <a:ext cx="10881360" cy="914400"/>
          </a:xfrm>
          <a:prstGeom prst="roundRect">
            <a:avLst>
              <a:gd name="adj" fmla="val 9000"/>
            </a:avLst>
          </a:prstGeom>
          <a:solidFill>
            <a:srgbClr val="EEF3FC"/>
          </a:solidFill>
          <a:ln/>
        </p:spPr>
      </p:sp>
      <p:sp>
        <p:nvSpPr>
          <p:cNvPr id="10" name="Shape 8"/>
          <p:cNvSpPr/>
          <p:nvPr/>
        </p:nvSpPr>
        <p:spPr>
          <a:xfrm>
            <a:off x="896112" y="306324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96112" y="3063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463040" y="288036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real vector database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4343400" y="2880360"/>
            <a:ext cx="6903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In-memory cosine similarity is correct at this scale, but wouldn't hold up against a large document corpus.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3886200"/>
            <a:ext cx="10881360" cy="914400"/>
          </a:xfrm>
          <a:prstGeom prst="roundRect">
            <a:avLst>
              <a:gd name="adj" fmla="val 9000"/>
            </a:avLst>
          </a:prstGeom>
          <a:solidFill>
            <a:srgbClr val="EEF3FC"/>
          </a:solidFill>
          <a:ln/>
        </p:spPr>
      </p:sp>
      <p:sp>
        <p:nvSpPr>
          <p:cNvPr id="15" name="Shape 13"/>
          <p:cNvSpPr/>
          <p:nvPr/>
        </p:nvSpPr>
        <p:spPr>
          <a:xfrm>
            <a:off x="896112" y="416052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96112" y="4160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397764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Precision, not just recall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4343400" y="3977640"/>
            <a:ext cx="6903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eval currently measures whether relevant chunks were found — not how much irrelevant noise came with them.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4983480"/>
            <a:ext cx="10881360" cy="914400"/>
          </a:xfrm>
          <a:prstGeom prst="roundRect">
            <a:avLst>
              <a:gd name="adj" fmla="val 9000"/>
            </a:avLst>
          </a:prstGeom>
          <a:solidFill>
            <a:srgbClr val="EEF3FC"/>
          </a:solidFill>
          <a:ln/>
        </p:spPr>
      </p:sp>
      <p:sp>
        <p:nvSpPr>
          <p:cNvPr id="20" name="Shape 18"/>
          <p:cNvSpPr/>
          <p:nvPr/>
        </p:nvSpPr>
        <p:spPr>
          <a:xfrm>
            <a:off x="896112" y="525780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96112" y="5257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463040" y="507492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 &amp; deployment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4343400" y="5074920"/>
            <a:ext cx="6903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Local-only prototype today; multi-user support and hosting are the natural next steps.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Consultant Copilot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115568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828800"/>
            <a:ext cx="5120640" cy="5120640"/>
          </a:xfrm>
          <a:prstGeom prst="ellipse">
            <a:avLst/>
          </a:prstGeom>
          <a:solidFill>
            <a:srgbClr val="2E3A7F">
              <a:alpha val="55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7772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Demonstrates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68680" y="1856232"/>
            <a:ext cx="128016" cy="12801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88720" y="178308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RAG pipeline: ingestion, chunking, embeddings, retrieval, and generation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68680" y="2633472"/>
            <a:ext cx="128016" cy="12801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188720" y="256032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outputs as a reliability tool, not just a formatting preference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68680" y="3410712"/>
            <a:ext cx="128016" cy="12801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188720" y="333756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concrete anti-hallucination safeguard: verifying citations against source text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68680" y="4187952"/>
            <a:ext cx="128016" cy="12801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188720" y="411480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 evaluation across three distinct paradigms — ground truth, self-consistency, and LLM-as-judge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56235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to learn the engineering, not just ship the demo.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2026-09-20T01:05:47Z</dcterms:created>
  <dcterms:modified xsi:type="dcterms:W3CDTF">2026-09-20T01:05:47Z</dcterms:modified>
</cp:coreProperties>
</file>